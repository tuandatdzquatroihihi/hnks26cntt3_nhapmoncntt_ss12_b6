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09033"/>
            <a:ext cx="59055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801117"/>
            <a:ext cx="1866900" cy="285750"/>
          </a:xfrm>
          <a:prstGeom prst="roundRect">
            <a:avLst>
              <a:gd name="adj" fmla="val 20000"/>
            </a:avLst>
          </a:prstGeom>
          <a:solidFill>
            <a:srgbClr val="0D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409033"/>
            <a:ext cx="5905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857250"/>
            <a:ext cx="4572000" cy="5143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857250"/>
            <a:ext cx="4572000" cy="514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315467"/>
            <a:ext cx="7750968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Smart-Home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75533"/>
            <a:ext cx="7381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4D399"/>
                </a:solidFill>
                <a:latin typeface="Plus Jakarta Sans"/>
              </a:rPr>
              <a:t>Nền tảng đấu giá bất động sản trực tuyến minh bạch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513683"/>
            <a:ext cx="6000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Kết nối trực tiếp chủ nhà, người mua và môi giới. Chuẩn hóa quy trình giao dịch bằng công nghệ thời gian thực.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858267"/>
            <a:ext cx="1657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Plus Jakarta Sans"/>
              </a:rPr>
              <a:t>PITCH DECK GỌI VỐN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0800" y="1858267"/>
            <a:ext cx="1928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• 20 PHÚT THUYẾT TRÌNH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647158"/>
            <a:ext cx="2762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ĐẠI DIỆN DỰ 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856708"/>
            <a:ext cx="2762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Đội ngũ Sáng lập Smart-Home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4200" y="4647158"/>
            <a:ext cx="2714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GIAI ĐOẠN GỌI VỐN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4200" y="4856708"/>
            <a:ext cx="2714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Plus Jakarta Sans"/>
              </a:rPr>
              <a:t>Vòng Hạt Giống (Seed Round)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0387"/>
            <a:ext cx="3454449" cy="2124075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3100387"/>
            <a:ext cx="3454449" cy="2124075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3100387"/>
            <a:ext cx="3454449" cy="2124075"/>
          </a:xfrm>
          <a:prstGeom prst="roundRect">
            <a:avLst>
              <a:gd name="adj" fmla="val 71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THÁCH THỨC THỊ TRƯỜNG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970121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Thị trường BĐS truyền thống lãng phí 16 giờ tra cứu mỗi ngày và 3.5% chi phí trung gian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325" y="3452812"/>
            <a:ext cx="343699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EF4444"/>
                </a:solidFill>
                <a:latin typeface="Plus Jakarta Sans"/>
              </a:rPr>
              <a:t>16 GIỜ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325" y="4214812"/>
            <a:ext cx="34369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Tra cứu giá cước thủ công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325" y="4510087"/>
            <a:ext cx="34369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Tốn thời gian xác minh pháp lý và hoa hồng từng căn nhà.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7574" y="3452812"/>
            <a:ext cx="343699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3.5%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7574" y="4214812"/>
            <a:ext cx="34369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Chi phí hoa hồng chênh lệch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574" y="4510087"/>
            <a:ext cx="34369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Thiếu minh bạch tỷ lệ cắt hoa hồng giữa các tầng môi giới.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6824" y="3452812"/>
            <a:ext cx="3436999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284C7"/>
                </a:solidFill>
                <a:latin typeface="Plus Jakarta Sans"/>
              </a:rPr>
              <a:t>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824" y="4214812"/>
            <a:ext cx="34369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Giao dịch bị kéo dài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824" y="4510087"/>
            <a:ext cx="34369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Người mua thiếu công cụ so sánh giá thực tế theo thời gian thực.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0275" y="2314575"/>
            <a:ext cx="5572125" cy="36195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24600" y="3442394"/>
            <a:ext cx="4943475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24600" y="3442394"/>
            <a:ext cx="38100" cy="6477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527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766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6005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28612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762" y="4010025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4733925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GIẢI PHÁP ĐỘT PHÁ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970121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Smart-Home tự động hóa 100% quy trình đấu giá và minh bạch hóa hoa hồng môi giới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4318694"/>
            <a:ext cx="50387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Loại bỏ hoàn toàn lỗi gộp ô (Merge Cell), cố định vùng dữ liệu bằng dấu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$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để tính toán tự động cho 10,000+ bất động sản.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442394"/>
            <a:ext cx="5638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CÔNG THỨC CHUẨN HÓA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651944"/>
            <a:ext cx="48101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=IFERROR(VLOOKUP(TRIM(MaMG), BangMoiGioi, 3, FALSE), 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3152775"/>
            <a:ext cx="38504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Đấu giá thời gian thực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3448050"/>
            <a:ext cx="3667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Đặt giá minh bạch với độ trễ dưới 100ms.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" y="3876675"/>
            <a:ext cx="426303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Tự động tính hoa hồng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7300" y="4171950"/>
            <a:ext cx="4060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Tra cứu VLOOKUP chính xác theo mã môi giới.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" y="4600575"/>
            <a:ext cx="4200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Xác thực pháp lý eKYC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4895850"/>
            <a:ext cx="4000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Đảm bảo hồ sơ nhà đất đúng quy định 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81350"/>
            <a:ext cx="257175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181350"/>
            <a:ext cx="257175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181350"/>
            <a:ext cx="257175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181350"/>
            <a:ext cx="257175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QUY MÔ THỊ TRƯỜNG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970121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Thị trường địa ốc đô thị đạt 12 tỷ USD với tốc độ tăng trưởng hàng năm 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95675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TAM (TỔNG THỊ TRƯỜNG)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43325"/>
            <a:ext cx="2750343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$12.0B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391025"/>
            <a:ext cx="2190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Tổng giao dịch BĐS đô thị tại Việt Nam.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075" y="3495675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SAM (THỊ TRƯỜNG KHẢ DỤNG)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75" y="3743325"/>
            <a:ext cx="2750343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59669"/>
                </a:solidFill>
                <a:latin typeface="Plus Jakarta Sans"/>
              </a:rPr>
              <a:t>$2.4B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075" y="4391025"/>
            <a:ext cx="2190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Phân khúc nhà phố và căn hộ chung cư.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3495675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SOM (MỤC TIÊU 3 NĂM)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743325"/>
            <a:ext cx="2750343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284C7"/>
                </a:solidFill>
                <a:latin typeface="Plus Jakarta Sans"/>
              </a:rPr>
              <a:t>$120M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4391025"/>
            <a:ext cx="2190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Chiếm 5% thị phần giao dịch trực tuyến.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8775" y="3495675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CAGR (TĂNG TRƯỞNG)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743325"/>
            <a:ext cx="2750343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7C3AED"/>
                </a:solidFill>
                <a:latin typeface="Plus Jakarta Sans"/>
              </a:rPr>
              <a:t>15.2%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4391025"/>
            <a:ext cx="2190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Tốc độ tăng trưởng PropTech hàng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2262"/>
            <a:ext cx="5334000" cy="25241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62262"/>
            <a:ext cx="5334000" cy="2524125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2025" y="4691062"/>
            <a:ext cx="46291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00825" y="4691062"/>
            <a:ext cx="46291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2025" y="4691062"/>
            <a:ext cx="46291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600825" y="4691062"/>
            <a:ext cx="462915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3214687"/>
            <a:ext cx="495300" cy="495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3214687"/>
            <a:ext cx="495300" cy="4953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50" y="3348037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0" y="3348037"/>
            <a:ext cx="1714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MÔ HÌNH KINH DOANH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970121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Mô hình thu phí kép từ 1% phí sàn giao dịch và dịch vụ thẩm định pháp lý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900487"/>
            <a:ext cx="607575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Phí thành công phiên đấu (1.0%)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300537"/>
            <a:ext cx="5786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Thu từ bên bán khi giao dịch chốt thành công trên hệ thống.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825" y="3900487"/>
            <a:ext cx="55911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Phí thẩm định &amp; Đặt cọc Escrow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4300537"/>
            <a:ext cx="5591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Gói dịch vụ kiểm tra pháp lý và lưu giữ tiền cọc an toàn.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4852987"/>
            <a:ext cx="5786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59669"/>
                </a:solidFill>
                <a:latin typeface="Plus Jakarta Sans"/>
              </a:rPr>
              <a:t>Doanh thu dự kiến: $1.2M / năm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4852987"/>
            <a:ext cx="55911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Doanh thu dự kiến: $450K / năm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53300" y="2667000"/>
            <a:ext cx="4229100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53300" y="3676650"/>
            <a:ext cx="4229100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53300" y="4686300"/>
            <a:ext cx="4229100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76475"/>
            <a:ext cx="63627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286000"/>
            <a:ext cx="63436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SẢN PHẨM &amp; CÔNG NGHỆ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970121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Nền tảng MVP đã hoàn thành chạy thử nghiệm với tốc độ phản hồi dưới 100ms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3325" y="2867025"/>
            <a:ext cx="4638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Dashboard Môi Giới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53325" y="3114675"/>
            <a:ext cx="4638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Tra cứu tự động hoa hồng và quản lý nguồn hàng nhanh chóng.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3325" y="3876675"/>
            <a:ext cx="4638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Đấu Giá Trực Tiếp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3325" y="4124325"/>
            <a:ext cx="4638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Bảo mật thông tin người đặt giá với khớp lệnh tự động.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3325" y="4886325"/>
            <a:ext cx="46386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Báo Cáo KPI Thời Gian Thực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53325" y="5133975"/>
            <a:ext cx="46386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Xuất dữ liệu thị trường và lịch sử giá minh bạch.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38487"/>
            <a:ext cx="3454449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3138487"/>
            <a:ext cx="3454449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3138487"/>
            <a:ext cx="3454449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KẾT QUẢ THỬ NGHIỆM (TRACTION)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970121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Đạt 1,200 giao dịch thử nghiệm thành công với doanh thu 150,000 USD trong 6 tháng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325" y="3490912"/>
            <a:ext cx="3436999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59669"/>
                </a:solidFill>
                <a:latin typeface="Plus Jakarta Sans"/>
              </a:rPr>
              <a:t>1,200+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325" y="4176712"/>
            <a:ext cx="34369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Giao dịch thành công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325" y="4471987"/>
            <a:ext cx="34369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Khớp lệnh đấu giá trong vòng 6 tháng qua.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7574" y="3490912"/>
            <a:ext cx="3436999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0284C7"/>
                </a:solidFill>
                <a:latin typeface="Plus Jakarta Sans"/>
              </a:rPr>
              <a:t>$150K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7574" y="4176712"/>
            <a:ext cx="34369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Doanh thu phí dịch vụ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574" y="4471987"/>
            <a:ext cx="34369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Thu nhập từ phí sàn và dịch vụ thẩm định.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6824" y="3490912"/>
            <a:ext cx="3436999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1" i="0" u="none">
                <a:solidFill>
                  <a:srgbClr val="7C3AED"/>
                </a:solidFill>
                <a:latin typeface="Plus Jakarta Sans"/>
              </a:rPr>
              <a:t>4.8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6824" y="4176712"/>
            <a:ext cx="34369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Đánh giá từ môi giới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6824" y="4471987"/>
            <a:ext cx="34369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Hơn 500 môi giới hoạt động thường xuyên.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19450"/>
            <a:ext cx="350520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381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09587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219450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3219450"/>
            <a:ext cx="9525" cy="1885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05275" y="3219450"/>
            <a:ext cx="9525" cy="1885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0" y="3219450"/>
            <a:ext cx="350520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509587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321945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3219450"/>
            <a:ext cx="9525" cy="1885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39075" y="3219450"/>
            <a:ext cx="9525" cy="1885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77200" y="3219450"/>
            <a:ext cx="3505200" cy="1885950"/>
          </a:xfrm>
          <a:prstGeom prst="roundRect">
            <a:avLst>
              <a:gd name="adj" fmla="val 8080"/>
            </a:avLst>
          </a:prstGeom>
          <a:solidFill>
            <a:srgbClr val="F8FAFC"/>
          </a:solidFill>
          <a:ln w="381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509587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3219450"/>
            <a:ext cx="35052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3219450"/>
            <a:ext cx="9525" cy="1885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3219450"/>
            <a:ext cx="9525" cy="1885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KẾ HOẠCH PHÁT TRIỂN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781050"/>
            <a:ext cx="970121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Lộ trình 3 năm chiếm 5% thị phần giao dịch bất động sản trực tuyến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24250"/>
            <a:ext cx="2990850" cy="1276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NĂM 1 (2026)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8200" y="3524250"/>
            <a:ext cx="2990850" cy="1276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NĂM 2 (2027)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3524250"/>
            <a:ext cx="2990850" cy="1276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C3AED"/>
                </a:solidFill>
                <a:latin typeface="Plus Jakarta Sans"/>
              </a:rPr>
              <a:t>NĂM 3 (2028)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3876675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Phủ sóng TP.HCM &amp; Hà Nội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4191000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Hoàn thiện hệ thống VLOOKUP tự động và mở rộng 3,000 môi giới.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725" y="3876675"/>
            <a:ext cx="312039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Mở rộng Đà Nẵng &amp; Bình Dương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7725" y="4429125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Tích hợp AI dự đoán giá sàn và hợp đồng thông minh Blockchain.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1525" y="3876675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Chiếm 5% thị phần toàn quốc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1525" y="4191000"/>
            <a:ext cx="29718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Đạt mốc 50,000 giao dịch/năm và chuẩn bị IPO khu vực.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3700"/>
            <a:ext cx="3454449" cy="241935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33700"/>
            <a:ext cx="3454449" cy="241935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933700"/>
            <a:ext cx="3454449" cy="2419350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850" y="3248025"/>
            <a:ext cx="68580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100" y="3248025"/>
            <a:ext cx="6858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349" y="3248025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7687" y="3457575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0" y="3457575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8562" y="3457575"/>
            <a:ext cx="33337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ĐỘI NGŨ SÁNG LẬP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970121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Đội ngũ kết hợp 10 năm kinh nghiệm Kỹ thuật phần mềm và Bất động sản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393" y="4124325"/>
            <a:ext cx="37088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CEO &amp; 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700" y="4400550"/>
            <a:ext cx="35322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59669"/>
                </a:solidFill>
                <a:latin typeface="Plus Jakarta Sans"/>
              </a:rPr>
              <a:t>Chuyên gia Kỹ thuật Phần mềm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700" y="4695825"/>
            <a:ext cx="353224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8 năm kinh nghiệm xây dựng nền tảng dữ liệu lớn.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1643" y="4124325"/>
            <a:ext cx="37088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Head of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9949" y="4400550"/>
            <a:ext cx="35322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284C7"/>
                </a:solidFill>
                <a:latin typeface="Plus Jakarta Sans"/>
              </a:rPr>
              <a:t>Quản lý Vận hành Địa ốc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9949" y="4695825"/>
            <a:ext cx="35322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10 năm điều hành mạng lưới môi giới nhà đất.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893" y="4124325"/>
            <a:ext cx="37088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9199" y="4400550"/>
            <a:ext cx="353224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7C3AED"/>
                </a:solidFill>
                <a:latin typeface="Plus Jakarta Sans"/>
              </a:rPr>
              <a:t>Kiến trúc sư Hệ thống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9199" y="4695825"/>
            <a:ext cx="35322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Chuyên gia hệ thống đấu giá thời gian thực.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38700" y="1108769"/>
            <a:ext cx="2514600" cy="285750"/>
          </a:xfrm>
          <a:prstGeom prst="roundRect">
            <a:avLst>
              <a:gd name="adj" fmla="val 20000"/>
            </a:avLst>
          </a:prstGeom>
          <a:solidFill>
            <a:srgbClr val="0D3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552700" y="5330130"/>
            <a:ext cx="70866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05075" y="3806130"/>
            <a:ext cx="2257425" cy="10668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43500" y="3806130"/>
            <a:ext cx="2038350" cy="10668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62850" y="3806130"/>
            <a:ext cx="2124075" cy="1066800"/>
          </a:xfrm>
          <a:prstGeom prst="roundRect">
            <a:avLst>
              <a:gd name="adj" fmla="val 1428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52700" y="5330130"/>
            <a:ext cx="7086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5596830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450" y="5596830"/>
            <a:ext cx="1428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675" y="5596830"/>
            <a:ext cx="14287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14875" y="1165919"/>
            <a:ext cx="2762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0B981"/>
                </a:solidFill>
                <a:latin typeface="Plus Jakarta Sans"/>
              </a:rPr>
              <a:t>KÊU GỌI ĐẦU TƯ SEED 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296" y="1623119"/>
            <a:ext cx="11251406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Kêu gọi 500,000 USD cho 15% cổ phần để mở rộng quy mô hệ thống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9750" y="2872680"/>
            <a:ext cx="8572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Đồng hành cùng Smart-Home định hình lại tương lai giao dịch bất động sản tại Việt Nam.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1706" y="5568255"/>
            <a:ext cx="3309937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Plus Jakarta Sans"/>
              </a:rPr>
              <a:t>contact@smarthome-proptech.vn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8521" y="5568255"/>
            <a:ext cx="1869281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Plus Jakarta Sans"/>
              </a:rPr>
              <a:t>(+84) 098 765 4321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971" y="5568255"/>
            <a:ext cx="2917031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94A3B8"/>
                </a:solidFill>
                <a:latin typeface="Plus Jakarta Sans"/>
              </a:rPr>
              <a:t>www.smarthome-proptech.vn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3428" y="4044255"/>
            <a:ext cx="1940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MỤC TIÊU GỌI VỐN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3428" y="4253805"/>
            <a:ext cx="1940718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10B981"/>
                </a:solidFill>
                <a:latin typeface="Plus Jakarta Sans"/>
              </a:rPr>
              <a:t>$500,000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9237" y="4044255"/>
            <a:ext cx="1666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CỔ PHẦN PHÁT HÀNH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9237" y="4253805"/>
            <a:ext cx="166687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38BDF8"/>
                </a:solidFill>
                <a:latin typeface="Plus Jakarta Sans"/>
              </a:rPr>
              <a:t>15.0%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7871" y="4044255"/>
            <a:ext cx="1774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ĐỊNH GIÁ PRE-MONEY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7871" y="4253805"/>
            <a:ext cx="177403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A78BFA"/>
                </a:solidFill>
                <a:latin typeface="Plus Jakarta Sans"/>
              </a:rPr>
              <a:t>$2.83M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853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Plus Jakarta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Đào Tuấn Đạt</cp:lastModifiedBy>
  <cp:revision>2</cp:revision>
  <dcterms:created xsi:type="dcterms:W3CDTF">2013-01-27T09:14:16Z</dcterms:created>
  <dcterms:modified xsi:type="dcterms:W3CDTF">2026-10-26T13:57:45Z</dcterms:modified>
  <cp:category/>
</cp:coreProperties>
</file>